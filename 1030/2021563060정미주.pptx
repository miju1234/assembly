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97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12431-9E03-1C55-8E17-52E29E9C9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49339"/>
            <a:ext cx="7772400" cy="1362075"/>
          </a:xfrm>
        </p:spPr>
        <p:txBody>
          <a:bodyPr/>
          <a:lstStyle/>
          <a:p>
            <a:pPr algn="ctr"/>
            <a:r>
              <a:rPr lang="en-US" altLang="ko-KR" b="0" dirty="0">
                <a:latin typeface="+mn-ea"/>
                <a:ea typeface="+mn-ea"/>
              </a:rPr>
              <a:t>2021563060 </a:t>
            </a:r>
            <a:r>
              <a:rPr lang="ko-KR" altLang="en-US" b="0" dirty="0" err="1">
                <a:latin typeface="+mn-ea"/>
                <a:ea typeface="+mn-ea"/>
              </a:rPr>
              <a:t>정미주</a:t>
            </a:r>
            <a:endParaRPr lang="ko-KR" altLang="en-US" b="0" dirty="0">
              <a:latin typeface="+mn-ea"/>
              <a:ea typeface="+mn-ea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1F2193-2A61-CBBB-03B7-3FBAC85F1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836196"/>
            <a:ext cx="7772400" cy="1500187"/>
          </a:xfrm>
        </p:spPr>
        <p:txBody>
          <a:bodyPr anchor="ctr">
            <a:normAutofit/>
          </a:bodyPr>
          <a:lstStyle/>
          <a:p>
            <a:pPr algn="ctr"/>
            <a:r>
              <a:rPr lang="ko-KR" altLang="en-US" sz="6000" dirty="0">
                <a:solidFill>
                  <a:schemeClr val="tx1"/>
                </a:solidFill>
                <a:latin typeface="+mj-ea"/>
                <a:ea typeface="+mj-ea"/>
              </a:rPr>
              <a:t>어셈블리프로그래밍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406199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>
            <a:normAutofit/>
          </a:bodyPr>
          <a:lstStyle/>
          <a:p>
            <a:r>
              <a:rPr b="1" dirty="0"/>
              <a:t>Library (</a:t>
            </a:r>
            <a:r>
              <a:rPr b="1" dirty="0" err="1"/>
              <a:t>라이브러리</a:t>
            </a:r>
            <a:r>
              <a:rPr b="1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라이브러리란</a:t>
            </a:r>
            <a:r>
              <a:rPr b="1" dirty="0">
                <a:latin typeface="+mj-ea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프로그램에서</a:t>
            </a:r>
            <a:r>
              <a:rPr dirty="0"/>
              <a:t> </a:t>
            </a:r>
            <a:r>
              <a:rPr dirty="0" err="1"/>
              <a:t>공통적으로</a:t>
            </a:r>
            <a:r>
              <a:rPr dirty="0"/>
              <a:t> </a:t>
            </a:r>
            <a:r>
              <a:rPr dirty="0" err="1"/>
              <a:t>사용하는</a:t>
            </a:r>
            <a:r>
              <a:rPr dirty="0"/>
              <a:t> </a:t>
            </a:r>
            <a:r>
              <a:rPr dirty="0" err="1"/>
              <a:t>함수나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묶어둔</a:t>
            </a:r>
            <a:r>
              <a:rPr dirty="0"/>
              <a:t> </a:t>
            </a:r>
            <a:r>
              <a:rPr dirty="0" err="1"/>
              <a:t>재사용</a:t>
            </a:r>
            <a:r>
              <a:rPr dirty="0"/>
              <a:t> </a:t>
            </a:r>
            <a:r>
              <a:rPr dirty="0" err="1"/>
              <a:t>가능한</a:t>
            </a:r>
            <a:r>
              <a:rPr dirty="0"/>
              <a:t>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모음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b="1" dirty="0" err="1"/>
              <a:t>주요</a:t>
            </a:r>
            <a:r>
              <a:rPr b="1" dirty="0"/>
              <a:t> </a:t>
            </a:r>
            <a:r>
              <a:rPr b="1" dirty="0" err="1"/>
              <a:t>역할</a:t>
            </a:r>
            <a:r>
              <a:rPr dirty="0"/>
              <a:t>:</a:t>
            </a:r>
          </a:p>
          <a:p>
            <a:pPr algn="l">
              <a:defRPr sz="1800"/>
            </a:pP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및 </a:t>
            </a:r>
            <a:r>
              <a:rPr dirty="0" err="1"/>
              <a:t>유지보수</a:t>
            </a:r>
            <a:r>
              <a:rPr dirty="0"/>
              <a:t> </a:t>
            </a:r>
            <a:r>
              <a:rPr dirty="0" err="1"/>
              <a:t>효율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  <a:p>
            <a:pPr algn="l">
              <a:defRPr sz="1800"/>
            </a:pPr>
            <a:r>
              <a:rPr dirty="0" err="1"/>
              <a:t>컴파일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단축</a:t>
            </a:r>
            <a:r>
              <a:rPr dirty="0"/>
              <a:t> 및 </a:t>
            </a:r>
            <a:r>
              <a:rPr dirty="0" err="1"/>
              <a:t>개발</a:t>
            </a:r>
            <a:r>
              <a:rPr dirty="0"/>
              <a:t> </a:t>
            </a:r>
            <a:r>
              <a:rPr dirty="0" err="1"/>
              <a:t>생산성</a:t>
            </a:r>
            <a:r>
              <a:rPr dirty="0"/>
              <a:t> </a:t>
            </a:r>
            <a:r>
              <a:rPr dirty="0" err="1"/>
              <a:t>향상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dirty="0"/>
              <a:t> </a:t>
            </a:r>
            <a:r>
              <a:rPr b="1" dirty="0" err="1"/>
              <a:t>예시</a:t>
            </a:r>
            <a:r>
              <a:rPr dirty="0"/>
              <a:t>:</a:t>
            </a:r>
          </a:p>
          <a:p>
            <a:pPr algn="l">
              <a:defRPr sz="1800"/>
            </a:pPr>
            <a:r>
              <a:rPr dirty="0"/>
              <a:t>C: stdio.lib, math.lib</a:t>
            </a:r>
          </a:p>
          <a:p>
            <a:pPr algn="l">
              <a:defRPr sz="1800"/>
            </a:pPr>
            <a:r>
              <a:rPr dirty="0"/>
              <a:t>MASM: Irvine32.lib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라이브러리의</a:t>
            </a:r>
            <a:r>
              <a:rPr b="1" dirty="0"/>
              <a:t> </a:t>
            </a:r>
            <a:r>
              <a:rPr b="1" dirty="0" err="1"/>
              <a:t>종류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b="1" dirty="0" err="1"/>
              <a:t>정적</a:t>
            </a:r>
            <a:r>
              <a:rPr b="1" dirty="0"/>
              <a:t> </a:t>
            </a:r>
            <a:r>
              <a:rPr b="1" dirty="0" err="1"/>
              <a:t>라이브러리</a:t>
            </a:r>
            <a:r>
              <a:rPr b="1" dirty="0"/>
              <a:t> (.lib)</a:t>
            </a:r>
          </a:p>
          <a:p>
            <a:pPr algn="l">
              <a:defRPr sz="1800"/>
            </a:pPr>
            <a:r>
              <a:rPr dirty="0" err="1"/>
              <a:t>컴파일</a:t>
            </a:r>
            <a:r>
              <a:rPr dirty="0"/>
              <a:t> 시 </a:t>
            </a:r>
            <a:r>
              <a:rPr dirty="0" err="1"/>
              <a:t>포함</a:t>
            </a:r>
            <a:endParaRPr dirty="0"/>
          </a:p>
          <a:p>
            <a:pPr algn="l">
              <a:defRPr sz="1800"/>
            </a:pP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빠름</a:t>
            </a:r>
            <a:r>
              <a:rPr dirty="0"/>
              <a:t>, </a:t>
            </a:r>
            <a:r>
              <a:rPr dirty="0" err="1"/>
              <a:t>크기</a:t>
            </a:r>
            <a:r>
              <a:rPr dirty="0"/>
              <a:t> </a:t>
            </a:r>
            <a:r>
              <a:rPr dirty="0" err="1"/>
              <a:t>증가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b="1" dirty="0" err="1"/>
              <a:t>동적</a:t>
            </a:r>
            <a:r>
              <a:rPr b="1" dirty="0"/>
              <a:t> </a:t>
            </a:r>
            <a:r>
              <a:rPr b="1" dirty="0" err="1"/>
              <a:t>라이브러리</a:t>
            </a:r>
            <a:r>
              <a:rPr b="1" dirty="0"/>
              <a:t> (.</a:t>
            </a:r>
            <a:r>
              <a:rPr b="1" dirty="0" err="1"/>
              <a:t>dll</a:t>
            </a:r>
            <a:r>
              <a:rPr b="1" dirty="0"/>
              <a:t>)</a:t>
            </a:r>
          </a:p>
          <a:p>
            <a:pPr algn="l">
              <a:defRPr sz="1800"/>
            </a:pPr>
            <a:r>
              <a:rPr dirty="0" err="1"/>
              <a:t>실행</a:t>
            </a:r>
            <a:r>
              <a:rPr dirty="0"/>
              <a:t> 중 </a:t>
            </a:r>
            <a:r>
              <a:rPr dirty="0" err="1"/>
              <a:t>로드</a:t>
            </a:r>
            <a:endParaRPr dirty="0"/>
          </a:p>
          <a:p>
            <a:pPr algn="l">
              <a:defRPr sz="1800"/>
            </a:pPr>
            <a:r>
              <a:rPr dirty="0" err="1"/>
              <a:t>메모리</a:t>
            </a:r>
            <a:r>
              <a:rPr dirty="0"/>
              <a:t> </a:t>
            </a:r>
            <a:r>
              <a:rPr dirty="0" err="1"/>
              <a:t>효율적</a:t>
            </a:r>
            <a:r>
              <a:rPr dirty="0"/>
              <a:t>, </a:t>
            </a:r>
            <a:r>
              <a:rPr dirty="0" err="1"/>
              <a:t>의존성</a:t>
            </a:r>
            <a:r>
              <a:rPr dirty="0"/>
              <a:t> </a:t>
            </a:r>
            <a:r>
              <a:rPr dirty="0" err="1"/>
              <a:t>관리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  <a:p>
            <a:pPr algn="l">
              <a:defRPr sz="1800"/>
            </a:pPr>
            <a:endParaRPr dirty="0"/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dirty="0" err="1"/>
              <a:t>정적</a:t>
            </a:r>
            <a:r>
              <a:rPr dirty="0"/>
              <a:t> =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포함</a:t>
            </a:r>
            <a:r>
              <a:rPr dirty="0"/>
              <a:t> </a:t>
            </a:r>
            <a:r>
              <a:rPr lang="en-US" dirty="0"/>
              <a:t>(</a:t>
            </a:r>
            <a:r>
              <a:rPr lang="ko-KR" altLang="en-US" dirty="0"/>
              <a:t>실행할 때 따로 외부 파일이 필요 </a:t>
            </a:r>
            <a:r>
              <a:rPr lang="en-US" altLang="ko-KR" dirty="0"/>
              <a:t>x)</a:t>
            </a:r>
            <a:endParaRPr lang="en-US" dirty="0"/>
          </a:p>
          <a:p>
            <a:pPr algn="l">
              <a:buFont typeface="Wingdings" panose="05000000000000000000" pitchFamily="2" charset="2"/>
              <a:buChar char="Ø"/>
              <a:defRPr sz="1800"/>
            </a:pPr>
            <a:r>
              <a:rPr dirty="0" err="1"/>
              <a:t>동적</a:t>
            </a:r>
            <a:r>
              <a:rPr dirty="0"/>
              <a:t> = </a:t>
            </a:r>
            <a:r>
              <a:rPr dirty="0" err="1"/>
              <a:t>실행</a:t>
            </a:r>
            <a:r>
              <a:rPr dirty="0"/>
              <a:t> 시 </a:t>
            </a:r>
            <a:r>
              <a:rPr dirty="0" err="1"/>
              <a:t>연결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>
                <a:latin typeface="+mj-ea"/>
              </a:rPr>
              <a:t>정적</a:t>
            </a:r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라이브러리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dirty="0" err="1"/>
              <a:t>링커</a:t>
            </a:r>
            <a:r>
              <a:rPr dirty="0"/>
              <a:t>(Linker)가 .obj </a:t>
            </a:r>
            <a:r>
              <a:rPr dirty="0" err="1"/>
              <a:t>파일과</a:t>
            </a:r>
            <a:r>
              <a:rPr dirty="0"/>
              <a:t> .lib </a:t>
            </a:r>
            <a:r>
              <a:rPr dirty="0" err="1"/>
              <a:t>파일을</a:t>
            </a:r>
            <a:r>
              <a:rPr dirty="0"/>
              <a:t> </a:t>
            </a:r>
            <a:r>
              <a:rPr dirty="0" err="1"/>
              <a:t>묶어</a:t>
            </a:r>
            <a:r>
              <a:rPr dirty="0"/>
              <a:t> .exe </a:t>
            </a:r>
            <a:r>
              <a:rPr dirty="0" err="1"/>
              <a:t>생성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b="1" dirty="0"/>
              <a:t>MASM </a:t>
            </a:r>
            <a:r>
              <a:rPr b="1" dirty="0" err="1"/>
              <a:t>예시</a:t>
            </a:r>
            <a:r>
              <a:rPr dirty="0"/>
              <a:t>:</a:t>
            </a:r>
          </a:p>
          <a:p>
            <a:pPr algn="l">
              <a:defRPr sz="1800"/>
            </a:pPr>
            <a:r>
              <a:rPr dirty="0"/>
              <a:t>INCLUDE Irvine32.inc</a:t>
            </a:r>
          </a:p>
          <a:p>
            <a:pPr algn="l">
              <a:defRPr sz="1800"/>
            </a:pPr>
            <a:r>
              <a:rPr dirty="0"/>
              <a:t>INCLUDELIB Irvine32.lib</a:t>
            </a:r>
          </a:p>
          <a:p>
            <a:pPr algn="l">
              <a:defRPr sz="1800"/>
            </a:pPr>
            <a:r>
              <a:rPr dirty="0"/>
              <a:t>call </a:t>
            </a:r>
            <a:r>
              <a:rPr dirty="0" err="1"/>
              <a:t>WriteString</a:t>
            </a:r>
            <a:endParaRPr dirty="0"/>
          </a:p>
          <a:p>
            <a:pPr algn="l">
              <a:defRPr sz="1800"/>
            </a:pPr>
            <a:endParaRPr dirty="0"/>
          </a:p>
          <a:p>
            <a:pPr algn="l">
              <a:buFont typeface="Wingdings" panose="05000000000000000000" pitchFamily="2" charset="2"/>
              <a:buChar char="Ø"/>
              <a:defRPr sz="1800"/>
            </a:pP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속도</a:t>
            </a:r>
            <a:r>
              <a:rPr dirty="0"/>
              <a:t> </a:t>
            </a:r>
            <a:r>
              <a:rPr dirty="0" err="1"/>
              <a:t>빠르지만</a:t>
            </a:r>
            <a:r>
              <a:rPr dirty="0"/>
              <a:t> </a:t>
            </a:r>
            <a:r>
              <a:rPr dirty="0" err="1"/>
              <a:t>파일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 </a:t>
            </a:r>
            <a:r>
              <a:rPr dirty="0" err="1"/>
              <a:t>커짐</a:t>
            </a:r>
            <a:endParaRPr lang="en-US" dirty="0"/>
          </a:p>
          <a:p>
            <a:pPr marL="0" indent="0" algn="l">
              <a:buNone/>
              <a:defRPr sz="1800"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>
                <a:latin typeface="+mj-ea"/>
              </a:rPr>
              <a:t>동적</a:t>
            </a:r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라이브러리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dirty="0" err="1"/>
              <a:t>실행</a:t>
            </a:r>
            <a:r>
              <a:rPr dirty="0"/>
              <a:t> 중 </a:t>
            </a:r>
            <a:r>
              <a:rPr dirty="0" err="1"/>
              <a:t>필요한</a:t>
            </a:r>
            <a:r>
              <a:rPr dirty="0"/>
              <a:t> .</a:t>
            </a:r>
            <a:r>
              <a:rPr dirty="0" err="1"/>
              <a:t>dll</a:t>
            </a:r>
            <a:r>
              <a:rPr dirty="0"/>
              <a:t> </a:t>
            </a:r>
            <a:r>
              <a:rPr dirty="0" err="1"/>
              <a:t>파일을</a:t>
            </a:r>
            <a:r>
              <a:rPr dirty="0"/>
              <a:t> </a:t>
            </a:r>
            <a:r>
              <a:rPr dirty="0" err="1"/>
              <a:t>운영체제가</a:t>
            </a:r>
            <a:r>
              <a:rPr dirty="0"/>
              <a:t> </a:t>
            </a:r>
            <a:r>
              <a:rPr dirty="0" err="1"/>
              <a:t>메모리에</a:t>
            </a:r>
            <a:r>
              <a:rPr dirty="0"/>
              <a:t> </a:t>
            </a:r>
            <a:r>
              <a:rPr dirty="0" err="1"/>
              <a:t>로드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b="1" dirty="0"/>
              <a:t>C </a:t>
            </a:r>
            <a:r>
              <a:rPr b="1" dirty="0" err="1"/>
              <a:t>예시</a:t>
            </a:r>
            <a:r>
              <a:rPr dirty="0"/>
              <a:t>:</a:t>
            </a:r>
          </a:p>
          <a:p>
            <a:pPr algn="l">
              <a:defRPr sz="1800"/>
            </a:pPr>
            <a:r>
              <a:rPr dirty="0"/>
              <a:t>HMODULE h = </a:t>
            </a:r>
            <a:r>
              <a:rPr dirty="0" err="1"/>
              <a:t>LoadLibrary</a:t>
            </a:r>
            <a:r>
              <a:rPr dirty="0"/>
              <a:t>('MyDLL.dll');</a:t>
            </a:r>
          </a:p>
          <a:p>
            <a:pPr algn="l">
              <a:defRPr sz="1800"/>
            </a:pPr>
            <a:r>
              <a:rPr dirty="0"/>
              <a:t>FARPROC f = </a:t>
            </a:r>
            <a:r>
              <a:rPr dirty="0" err="1"/>
              <a:t>GetProcAddress</a:t>
            </a:r>
            <a:r>
              <a:rPr dirty="0"/>
              <a:t>(h, 'Func');</a:t>
            </a:r>
          </a:p>
          <a:p>
            <a:pPr algn="l">
              <a:defRPr sz="1800"/>
            </a:pPr>
            <a:r>
              <a:rPr dirty="0"/>
              <a:t>f();</a:t>
            </a:r>
          </a:p>
          <a:p>
            <a:pPr algn="l">
              <a:defRPr sz="1800"/>
            </a:pPr>
            <a:r>
              <a:rPr dirty="0" err="1"/>
              <a:t>FreeLibrary</a:t>
            </a:r>
            <a:r>
              <a:rPr dirty="0"/>
              <a:t>(h);</a:t>
            </a:r>
          </a:p>
          <a:p>
            <a:pPr algn="l">
              <a:defRPr sz="1800"/>
            </a:pPr>
            <a:endParaRPr dirty="0"/>
          </a:p>
          <a:p>
            <a:pPr algn="l">
              <a:buFont typeface="Wingdings" panose="05000000000000000000" pitchFamily="2" charset="2"/>
              <a:buChar char="Ø"/>
              <a:defRPr sz="1800"/>
            </a:pPr>
            <a:r>
              <a:rPr dirty="0" err="1"/>
              <a:t>여러</a:t>
            </a:r>
            <a:r>
              <a:rPr dirty="0"/>
              <a:t> </a:t>
            </a:r>
            <a:r>
              <a:rPr dirty="0" err="1"/>
              <a:t>프로그램이</a:t>
            </a:r>
            <a:r>
              <a:rPr dirty="0"/>
              <a:t> </a:t>
            </a:r>
            <a:r>
              <a:rPr dirty="0" err="1"/>
              <a:t>하나의</a:t>
            </a:r>
            <a:r>
              <a:rPr dirty="0"/>
              <a:t> DLL </a:t>
            </a:r>
            <a:r>
              <a:rPr dirty="0" err="1"/>
              <a:t>공유</a:t>
            </a:r>
            <a:endParaRPr lang="en-US" dirty="0"/>
          </a:p>
          <a:p>
            <a:pPr marL="0" indent="0" algn="l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 err="1">
                <a:latin typeface="+mj-ea"/>
              </a:rPr>
              <a:t>MASM에서의</a:t>
            </a:r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라이브러리</a:t>
            </a:r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사용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dirty="0" err="1"/>
              <a:t>MASM에서는</a:t>
            </a:r>
            <a:r>
              <a:rPr dirty="0"/>
              <a:t> </a:t>
            </a:r>
            <a:r>
              <a:rPr dirty="0" err="1"/>
              <a:t>주로</a:t>
            </a:r>
            <a:r>
              <a:rPr dirty="0"/>
              <a:t> Irvine32.lib를 </a:t>
            </a:r>
            <a:r>
              <a:rPr dirty="0" err="1"/>
              <a:t>사용하며</a:t>
            </a:r>
            <a:r>
              <a:rPr dirty="0"/>
              <a:t> INCLUDE / INCLUDELIB </a:t>
            </a:r>
            <a:r>
              <a:rPr dirty="0" err="1"/>
              <a:t>지시어로</a:t>
            </a:r>
            <a:r>
              <a:rPr dirty="0"/>
              <a:t> </a:t>
            </a:r>
            <a:r>
              <a:rPr dirty="0" err="1"/>
              <a:t>연결</a:t>
            </a:r>
            <a:endParaRPr dirty="0"/>
          </a:p>
          <a:p>
            <a:pPr algn="l">
              <a:defRPr sz="1800"/>
            </a:pPr>
            <a:endParaRPr dirty="0"/>
          </a:p>
          <a:p>
            <a:pPr marL="0" indent="0" algn="l">
              <a:buNone/>
              <a:defRPr sz="1800"/>
            </a:pPr>
            <a:r>
              <a:rPr b="1" dirty="0"/>
              <a:t>MASM </a:t>
            </a:r>
            <a:r>
              <a:rPr b="1" dirty="0" err="1"/>
              <a:t>예시</a:t>
            </a:r>
            <a:r>
              <a:rPr dirty="0"/>
              <a:t>:</a:t>
            </a:r>
          </a:p>
          <a:p>
            <a:pPr algn="l">
              <a:defRPr sz="1800"/>
            </a:pPr>
            <a:r>
              <a:rPr dirty="0"/>
              <a:t>INCLUDE Irvine32.inc</a:t>
            </a:r>
          </a:p>
          <a:p>
            <a:pPr algn="l">
              <a:defRPr sz="1800"/>
            </a:pPr>
            <a:r>
              <a:rPr dirty="0"/>
              <a:t>INCLUDELIB Irvine32.lib</a:t>
            </a:r>
          </a:p>
          <a:p>
            <a:pPr algn="l">
              <a:defRPr sz="1800"/>
            </a:pPr>
            <a:r>
              <a:rPr dirty="0"/>
              <a:t>call </a:t>
            </a:r>
            <a:r>
              <a:rPr dirty="0" err="1"/>
              <a:t>WriteString</a:t>
            </a:r>
            <a:endParaRPr dirty="0"/>
          </a:p>
          <a:p>
            <a:pPr algn="l">
              <a:defRPr sz="1800"/>
            </a:pPr>
            <a:endParaRPr dirty="0"/>
          </a:p>
          <a:p>
            <a:pPr algn="l">
              <a:defRPr sz="1800"/>
            </a:pPr>
            <a:r>
              <a:rPr dirty="0"/>
              <a:t>INCLUDE → </a:t>
            </a:r>
            <a:r>
              <a:rPr dirty="0" err="1"/>
              <a:t>선언</a:t>
            </a:r>
            <a:r>
              <a:rPr dirty="0"/>
              <a:t> </a:t>
            </a:r>
            <a:r>
              <a:rPr dirty="0" err="1"/>
              <a:t>참조</a:t>
            </a:r>
            <a:endParaRPr dirty="0"/>
          </a:p>
          <a:p>
            <a:pPr algn="l">
              <a:defRPr sz="1800"/>
            </a:pPr>
            <a:r>
              <a:rPr dirty="0"/>
              <a:t>INCLUDELIB →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링크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j-ea"/>
              </a:rPr>
              <a:t>장단점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1800"/>
            </a:pPr>
            <a:r>
              <a:rPr b="1" dirty="0" err="1">
                <a:latin typeface="+mn-ea"/>
              </a:rPr>
              <a:t>정적</a:t>
            </a:r>
            <a:r>
              <a:rPr b="1" dirty="0">
                <a:latin typeface="+mn-ea"/>
              </a:rPr>
              <a:t> </a:t>
            </a:r>
            <a:r>
              <a:rPr b="1" dirty="0" err="1">
                <a:latin typeface="+mn-ea"/>
              </a:rPr>
              <a:t>라이브러리</a:t>
            </a:r>
            <a:r>
              <a:rPr lang="en-US" b="1" dirty="0">
                <a:latin typeface="+mn-ea"/>
              </a:rPr>
              <a:t> </a:t>
            </a:r>
          </a:p>
          <a:p>
            <a:pPr algn="l">
              <a:defRPr sz="1800"/>
            </a:pPr>
            <a:r>
              <a:rPr lang="ko-KR" altLang="en-US" dirty="0">
                <a:latin typeface="+mn-ea"/>
              </a:rPr>
              <a:t>장점</a:t>
            </a:r>
            <a:r>
              <a:rPr dirty="0">
                <a:latin typeface="+mn-ea"/>
              </a:rPr>
              <a:t>: </a:t>
            </a:r>
            <a:r>
              <a:rPr dirty="0" err="1">
                <a:latin typeface="+mn-ea"/>
              </a:rPr>
              <a:t>빠름</a:t>
            </a:r>
            <a:r>
              <a:rPr dirty="0">
                <a:latin typeface="+mn-ea"/>
              </a:rPr>
              <a:t>, </a:t>
            </a:r>
            <a:r>
              <a:rPr dirty="0" err="1">
                <a:latin typeface="+mn-ea"/>
              </a:rPr>
              <a:t>독립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실행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가능</a:t>
            </a:r>
            <a:r>
              <a:rPr dirty="0">
                <a:latin typeface="+mn-ea"/>
              </a:rPr>
              <a:t>  </a:t>
            </a:r>
            <a:endParaRPr lang="en-US" dirty="0">
              <a:latin typeface="+mn-ea"/>
            </a:endParaRPr>
          </a:p>
          <a:p>
            <a:pPr algn="l">
              <a:defRPr sz="1800"/>
            </a:pPr>
            <a:r>
              <a:rPr dirty="0" err="1">
                <a:latin typeface="+mn-ea"/>
              </a:rPr>
              <a:t>단점</a:t>
            </a:r>
            <a:r>
              <a:rPr dirty="0">
                <a:latin typeface="+mn-ea"/>
              </a:rPr>
              <a:t>: </a:t>
            </a:r>
            <a:r>
              <a:rPr dirty="0" err="1">
                <a:latin typeface="+mn-ea"/>
              </a:rPr>
              <a:t>크기</a:t>
            </a:r>
            <a:r>
              <a:rPr dirty="0">
                <a:latin typeface="+mn-ea"/>
              </a:rPr>
              <a:t> 큼, </a:t>
            </a:r>
            <a:r>
              <a:rPr dirty="0" err="1">
                <a:latin typeface="+mn-ea"/>
              </a:rPr>
              <a:t>재빌드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필요</a:t>
            </a:r>
            <a:endParaRPr lang="en-US" dirty="0">
              <a:latin typeface="+mn-ea"/>
            </a:endParaRPr>
          </a:p>
          <a:p>
            <a:pPr algn="l">
              <a:defRPr sz="1800"/>
            </a:pPr>
            <a:endParaRPr dirty="0">
              <a:latin typeface="+mn-ea"/>
            </a:endParaRPr>
          </a:p>
          <a:p>
            <a:pPr marL="0" indent="0" algn="l">
              <a:buNone/>
              <a:defRPr sz="1800"/>
            </a:pPr>
            <a:r>
              <a:rPr b="1" dirty="0" err="1">
                <a:latin typeface="+mn-ea"/>
              </a:rPr>
              <a:t>동적</a:t>
            </a:r>
            <a:r>
              <a:rPr b="1" dirty="0">
                <a:latin typeface="+mn-ea"/>
              </a:rPr>
              <a:t> </a:t>
            </a:r>
            <a:r>
              <a:rPr b="1" dirty="0" err="1">
                <a:latin typeface="+mn-ea"/>
              </a:rPr>
              <a:t>라이브러리</a:t>
            </a:r>
            <a:r>
              <a:rPr lang="en-US" b="1" dirty="0">
                <a:latin typeface="+mn-ea"/>
              </a:rPr>
              <a:t> </a:t>
            </a:r>
          </a:p>
          <a:p>
            <a:pPr algn="l">
              <a:defRPr sz="1800"/>
            </a:pPr>
            <a:r>
              <a:rPr lang="ko-KR" altLang="en-US" dirty="0">
                <a:latin typeface="+mn-ea"/>
              </a:rPr>
              <a:t>장점</a:t>
            </a:r>
            <a:r>
              <a:rPr dirty="0">
                <a:latin typeface="+mn-ea"/>
              </a:rPr>
              <a:t>: </a:t>
            </a:r>
            <a:r>
              <a:rPr dirty="0" err="1">
                <a:latin typeface="+mn-ea"/>
              </a:rPr>
              <a:t>메모리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효율적</a:t>
            </a:r>
            <a:r>
              <a:rPr dirty="0">
                <a:latin typeface="+mn-ea"/>
              </a:rPr>
              <a:t>, </a:t>
            </a:r>
            <a:r>
              <a:rPr dirty="0" err="1">
                <a:latin typeface="+mn-ea"/>
              </a:rPr>
              <a:t>업데이트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쉬움</a:t>
            </a:r>
            <a:r>
              <a:rPr dirty="0">
                <a:latin typeface="+mn-ea"/>
              </a:rPr>
              <a:t> </a:t>
            </a:r>
            <a:endParaRPr lang="en-US" dirty="0">
              <a:latin typeface="+mn-ea"/>
            </a:endParaRPr>
          </a:p>
          <a:p>
            <a:pPr algn="l">
              <a:defRPr sz="1800"/>
            </a:pPr>
            <a:r>
              <a:rPr dirty="0" err="1">
                <a:latin typeface="+mn-ea"/>
              </a:rPr>
              <a:t>단점</a:t>
            </a:r>
            <a:r>
              <a:rPr dirty="0">
                <a:latin typeface="+mn-ea"/>
              </a:rPr>
              <a:t>: DLL </a:t>
            </a:r>
            <a:r>
              <a:rPr dirty="0" err="1">
                <a:latin typeface="+mn-ea"/>
              </a:rPr>
              <a:t>의존성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문제</a:t>
            </a:r>
            <a:endParaRPr dirty="0">
              <a:latin typeface="+mn-ea"/>
            </a:endParaRPr>
          </a:p>
          <a:p>
            <a:pPr>
              <a:defRPr sz="1800"/>
            </a:pP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ko-KR" altLang="en-US" dirty="0">
                <a:latin typeface="+mn-ea"/>
              </a:rPr>
              <a:t>라이브러리는 코드 재사용성과 유지보수성 향상에 핵심 </a:t>
            </a:r>
            <a:endParaRPr lang="en-US" altLang="ko-KR" dirty="0">
              <a:latin typeface="+mn-ea"/>
            </a:endParaRPr>
          </a:p>
          <a:p>
            <a:pPr>
              <a:buFont typeface="Wingdings" panose="05000000000000000000" pitchFamily="2" charset="2"/>
              <a:buChar char="Ø"/>
              <a:defRPr sz="1800"/>
            </a:pPr>
            <a:r>
              <a:rPr lang="ko-KR" altLang="en-US" dirty="0">
                <a:latin typeface="+mn-ea"/>
              </a:rPr>
              <a:t>같은 기능을 반복해서 만들 필요 없이</a:t>
            </a:r>
            <a:r>
              <a:rPr lang="en-US" altLang="ko-KR" dirty="0">
                <a:latin typeface="+mn-ea"/>
              </a:rPr>
              <a:t>,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효율적으로 관리</a:t>
            </a:r>
            <a:r>
              <a:rPr lang="en-US" altLang="ko-KR" dirty="0">
                <a:latin typeface="+mn-ea"/>
              </a:rPr>
              <a:t>·</a:t>
            </a:r>
            <a:r>
              <a:rPr lang="ko-KR" altLang="en-US" dirty="0">
                <a:latin typeface="+mn-ea"/>
              </a:rPr>
              <a:t>수정할 수 있도록 도와주는 핵심 도구</a:t>
            </a:r>
          </a:p>
          <a:p>
            <a:pPr algn="l">
              <a:defRPr sz="1800"/>
            </a:pPr>
            <a:endParaRPr dirty="0">
              <a:latin typeface="+mn-ea"/>
            </a:endParaRPr>
          </a:p>
          <a:p>
            <a:pPr marL="0" indent="0" algn="l">
              <a:buNone/>
              <a:defRPr sz="1800"/>
            </a:pPr>
            <a:endParaRPr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+mj-ea"/>
              </a:rPr>
              <a:t>참고</a:t>
            </a:r>
            <a:r>
              <a:rPr b="1" dirty="0">
                <a:latin typeface="+mj-ea"/>
              </a:rPr>
              <a:t> </a:t>
            </a:r>
            <a:r>
              <a:rPr b="1" dirty="0" err="1">
                <a:latin typeface="+mj-ea"/>
              </a:rPr>
              <a:t>자료</a:t>
            </a:r>
            <a:endParaRPr b="1" dirty="0">
              <a:latin typeface="+mj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rPr dirty="0"/>
              <a:t>Irvine, Kip R. Assembly Language for x86 Processors (7th Ed.)</a:t>
            </a:r>
          </a:p>
          <a:p>
            <a:pPr algn="l">
              <a:defRPr sz="1800"/>
            </a:pPr>
            <a:r>
              <a:rPr dirty="0"/>
              <a:t>Microsoft Docs – Dynamic-Link Libraries (DLL)</a:t>
            </a:r>
          </a:p>
          <a:p>
            <a:pPr algn="l">
              <a:defRPr sz="1800"/>
            </a:pPr>
            <a:r>
              <a:rPr dirty="0"/>
              <a:t>MASM32 SDK Documentation</a:t>
            </a:r>
          </a:p>
          <a:p>
            <a:pPr algn="l">
              <a:defRPr sz="1800"/>
            </a:pPr>
            <a:r>
              <a:rPr dirty="0"/>
              <a:t>Stack Overflow – Static vs Dynamic Libraries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308</Words>
  <Application>Microsoft Office PowerPoint</Application>
  <PresentationFormat>화면 슬라이드 쇼(4:3)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Office Theme</vt:lpstr>
      <vt:lpstr>2021563060 정미주</vt:lpstr>
      <vt:lpstr>Library (라이브러리)</vt:lpstr>
      <vt:lpstr> 라이브러리란?</vt:lpstr>
      <vt:lpstr>라이브러리의 종류</vt:lpstr>
      <vt:lpstr>정적 라이브러리</vt:lpstr>
      <vt:lpstr>동적 라이브러리</vt:lpstr>
      <vt:lpstr>MASM에서의 라이브러리 사용</vt:lpstr>
      <vt:lpstr>장단점</vt:lpstr>
      <vt:lpstr>참고 자료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 찬민</cp:lastModifiedBy>
  <cp:revision>2</cp:revision>
  <dcterms:created xsi:type="dcterms:W3CDTF">2013-01-27T09:14:16Z</dcterms:created>
  <dcterms:modified xsi:type="dcterms:W3CDTF">2025-11-02T13:34:21Z</dcterms:modified>
  <cp:category/>
</cp:coreProperties>
</file>